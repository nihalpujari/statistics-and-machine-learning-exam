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aggle.com/datasets/nudratabbas/global-ads-performance-google-meta-tiktok/data" TargetMode="Externa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2693987"/>
            <a:ext cx="7772400" cy="1470026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Global Ads Performance 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213725" y="4908193"/>
            <a:ext cx="8716550" cy="1178574"/>
          </a:xfrm>
          <a:prstGeom prst="rect">
            <a:avLst/>
          </a:prstGeom>
        </p:spPr>
        <p:txBody>
          <a:bodyPr/>
          <a:lstStyle/>
          <a:p>
            <a:pPr>
              <a:defRPr sz="20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Namrata Bhoyar | Nihal Pujari | Anuj Kamble | </a:t>
            </a:r>
            <a:br/>
            <a:r>
              <a:t>Gourav Somanna | Pramodkumar Shivanna</a:t>
            </a:r>
          </a:p>
        </p:txBody>
      </p:sp>
      <p:sp>
        <p:nvSpPr>
          <p:cNvPr id="96" name="Statistics &amp; Machine Learning"/>
          <p:cNvSpPr txBox="1"/>
          <p:nvPr/>
        </p:nvSpPr>
        <p:spPr>
          <a:xfrm>
            <a:off x="2032000" y="1298575"/>
            <a:ext cx="508000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700"/>
              </a:spcBef>
              <a:defRPr sz="20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Statistics &amp; Machine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xfrm>
            <a:off x="533177" y="335170"/>
            <a:ext cx="6341194" cy="794075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Dataset</a:t>
            </a:r>
          </a:p>
        </p:txBody>
      </p:sp>
      <p:sp>
        <p:nvSpPr>
          <p:cNvPr id="99" name="Content Placeholder 2"/>
          <p:cNvSpPr txBox="1"/>
          <p:nvPr>
            <p:ph type="body" sz="half" idx="1"/>
          </p:nvPr>
        </p:nvSpPr>
        <p:spPr>
          <a:xfrm>
            <a:off x="774440" y="1415638"/>
            <a:ext cx="7348504" cy="2610724"/>
          </a:xfrm>
          <a:prstGeom prst="rect">
            <a:avLst/>
          </a:prstGeom>
        </p:spPr>
        <p:txBody>
          <a:bodyPr/>
          <a:lstStyle/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Source: Kaggle (Global Ads Performance Dataset ).</a:t>
            </a:r>
            <a:br/>
          </a:p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Shape: 1800 Observations across 14 Features.</a:t>
            </a:r>
            <a:br/>
          </a:p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Key Features: Platform, Industry, Country, Impressions, Clicks, Ad Spend, Revenue, ROAS.</a:t>
            </a:r>
            <a:br/>
          </a:p>
        </p:txBody>
      </p:sp>
      <p:pic>
        <p:nvPicPr>
          <p:cNvPr id="100" name="Screenshot 2026-02-12 at 20.27.04.png" descr="Screenshot 2026-02-12 at 20.27.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4893" y="4312755"/>
            <a:ext cx="8294214" cy="16377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xfrm>
            <a:off x="457200" y="160300"/>
            <a:ext cx="8229600" cy="806451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Problem Statement</a:t>
            </a:r>
          </a:p>
        </p:txBody>
      </p:sp>
      <p:sp>
        <p:nvSpPr>
          <p:cNvPr id="103" name="Platform ROI Comparison: Test if ROAS differs significantly across TikTok, Meta, and Google platforms using statistical hypothesis testing.…"/>
          <p:cNvSpPr txBox="1"/>
          <p:nvPr/>
        </p:nvSpPr>
        <p:spPr>
          <a:xfrm>
            <a:off x="483428" y="1130592"/>
            <a:ext cx="7948543" cy="483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Platform ROI Comparison: Test if ROAS differs significantly across TikTok, Meta, and Google platforms using statistical hypothesis testing. </a:t>
            </a: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Conversion Forecasting: Use Supervised Learning to predict campaign conversions based on engagement metrics.</a:t>
            </a: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Profitability Classification: Classify campaigns as "Winners" (ROAS &gt; 1) using pre-revenue indicators.</a:t>
            </a: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SzPct val="100000"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Market Segment Discovery: Identify hidden campaign archetypes using Unsupervised Clustering.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xfrm>
            <a:off x="554949" y="265751"/>
            <a:ext cx="8229601" cy="808654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Preprocessing &amp; Feature Engineering</a:t>
            </a:r>
          </a:p>
        </p:txBody>
      </p:sp>
      <p:sp>
        <p:nvSpPr>
          <p:cNvPr id="106" name="Content Placeholder 2"/>
          <p:cNvSpPr txBox="1"/>
          <p:nvPr>
            <p:ph type="body" sz="half" idx="1"/>
          </p:nvPr>
        </p:nvSpPr>
        <p:spPr>
          <a:xfrm>
            <a:off x="496524" y="1345828"/>
            <a:ext cx="7847751" cy="3152468"/>
          </a:xfrm>
          <a:prstGeom prst="rect">
            <a:avLst/>
          </a:prstGeom>
        </p:spPr>
        <p:txBody>
          <a:bodyPr/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Data Cleaning.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Feature Engineering: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Extracted Time features (Month, Week, Day of Week).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Recalculated Columns for data integrity.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xfrm>
            <a:off x="457200" y="160338"/>
            <a:ext cx="8229600" cy="1143001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Noise Injection &amp; Cleaning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546100" y="1676166"/>
            <a:ext cx="7714265" cy="3505668"/>
          </a:xfrm>
          <a:prstGeom prst="rect">
            <a:avLst/>
          </a:prstGeom>
        </p:spPr>
        <p:txBody>
          <a:bodyPr/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The Experiment: Injected 3% Multiplicative Gaussian Noise into financial columns (ad_spend, clicks) to simulate real-world data logging errors.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Cleaning Method: Applied Quantile Smoothing to mitigate noise impact.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Results: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Comparison of Original vs. Noisy vs. Cleaned distributions.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Finding: Robust cleaning preserved the mean while reducing the variance introduced by the noise.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xfrm>
            <a:off x="457200" y="160338"/>
            <a:ext cx="8229600" cy="1143001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Noise Injection &amp; Cleaning</a:t>
            </a:r>
          </a:p>
        </p:txBody>
      </p:sp>
      <p:pic>
        <p:nvPicPr>
          <p:cNvPr id="112" name="Screenshot 2026-02-12 at 20.28.39.png" descr="Screenshot 2026-02-12 at 20.28.3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9357" y="1276350"/>
            <a:ext cx="5645286" cy="48487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xfrm>
            <a:off x="457200" y="96838"/>
            <a:ext cx="8229600" cy="798518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Statistical Analysis 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698500" y="1360114"/>
            <a:ext cx="8570764" cy="3470872"/>
          </a:xfrm>
          <a:prstGeom prst="rect">
            <a:avLst/>
          </a:prstGeom>
        </p:spPr>
        <p:txBody>
          <a:bodyPr/>
          <a:lstStyle/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Descriptive Metrics: Calculated Mean, Variance, and Skewness for all KPIs.</a:t>
            </a:r>
            <a:br/>
          </a:p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Hypothesis Testing: Conducted a Kruskal-Wallis H-test.</a:t>
            </a:r>
          </a:p>
          <a:p>
            <a:pPr lvl="1" marL="482666" indent="-166436" defTabSz="373151">
              <a:lnSpc>
                <a:spcPct val="115833"/>
              </a:lnSpc>
              <a:spcBef>
                <a:spcPts val="600"/>
              </a:spcBef>
              <a:buFontTx/>
              <a:buChar char="•"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Result: Found statistically significant differences in ROAS between platforms (p &lt; 0.05).</a:t>
            </a:r>
            <a:br/>
          </a:p>
          <a:p>
            <a:pPr marL="99862" indent="-99862" defTabSz="373151">
              <a:lnSpc>
                <a:spcPct val="115833"/>
              </a:lnSpc>
              <a:spcBef>
                <a:spcPts val="600"/>
              </a:spcBef>
              <a:buFontTx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Visuals:</a:t>
            </a:r>
          </a:p>
          <a:p>
            <a:pPr lvl="1" marL="482666" indent="-166436" defTabSz="373151">
              <a:lnSpc>
                <a:spcPct val="115833"/>
              </a:lnSpc>
              <a:spcBef>
                <a:spcPts val="600"/>
              </a:spcBef>
              <a:buFontTx/>
              <a:buChar char="•"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Correlation Heatmap (Identifying drivers of Revenue).</a:t>
            </a:r>
          </a:p>
          <a:p>
            <a:pPr lvl="1" marL="482666" indent="-166436" defTabSz="373151">
              <a:lnSpc>
                <a:spcPct val="115833"/>
              </a:lnSpc>
              <a:spcBef>
                <a:spcPts val="600"/>
              </a:spcBef>
              <a:buFontTx/>
              <a:buChar char="•"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Boxplots (Visualising platform variance).</a:t>
            </a:r>
          </a:p>
          <a:p>
            <a:pPr lvl="1" marL="482666" indent="-166436" defTabSz="373151">
              <a:lnSpc>
                <a:spcPct val="115833"/>
              </a:lnSpc>
              <a:spcBef>
                <a:spcPts val="600"/>
              </a:spcBef>
              <a:buFontTx/>
              <a:buChar char="•"/>
              <a:defRPr sz="166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Histograms (ROAS distribution skewness).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xfrm>
            <a:off x="457200" y="96838"/>
            <a:ext cx="8229600" cy="798518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Statistical Analysis </a:t>
            </a:r>
          </a:p>
        </p:txBody>
      </p:sp>
      <p:pic>
        <p:nvPicPr>
          <p:cNvPr id="11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5758" y="1097012"/>
            <a:ext cx="2947830" cy="26222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23810" y="1097012"/>
            <a:ext cx="3290779" cy="26222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96778" y="3920918"/>
            <a:ext cx="3550585" cy="26222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title"/>
          </p:nvPr>
        </p:nvSpPr>
        <p:spPr>
          <a:xfrm>
            <a:off x="457200" y="261938"/>
            <a:ext cx="7078514" cy="899617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Supervised Learning - Regression</a:t>
            </a:r>
          </a:p>
        </p:txBody>
      </p:sp>
      <p:sp>
        <p:nvSpPr>
          <p:cNvPr id="123" name="Content Placeholder 2"/>
          <p:cNvSpPr txBox="1"/>
          <p:nvPr>
            <p:ph type="body" sz="half" idx="1"/>
          </p:nvPr>
        </p:nvSpPr>
        <p:spPr>
          <a:xfrm>
            <a:off x="564753" y="1493229"/>
            <a:ext cx="8229601" cy="2686696"/>
          </a:xfrm>
          <a:prstGeom prst="rect">
            <a:avLst/>
          </a:prstGeom>
        </p:spPr>
        <p:txBody>
          <a:bodyPr/>
          <a:lstStyle/>
          <a:p>
            <a:pPr marL="91439" indent="-91439" defTabSz="341680">
              <a:lnSpc>
                <a:spcPct val="115833"/>
              </a:lnSpc>
              <a:spcBef>
                <a:spcPts val="600"/>
              </a:spcBef>
              <a:buFontTx/>
              <a:defRPr sz="152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Goal: Forecast Conversion Counts.</a:t>
            </a:r>
            <a:br/>
          </a:p>
          <a:p>
            <a:pPr marL="91439" indent="-91439" defTabSz="341680">
              <a:lnSpc>
                <a:spcPct val="115833"/>
              </a:lnSpc>
              <a:spcBef>
                <a:spcPts val="600"/>
              </a:spcBef>
              <a:buFontTx/>
              <a:defRPr sz="152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Models Compared: Ridge Regression vs. Random Forest Regressor.</a:t>
            </a:r>
            <a:br/>
          </a:p>
          <a:p>
            <a:pPr marL="91439" indent="-91439" defTabSz="341680">
              <a:lnSpc>
                <a:spcPct val="115833"/>
              </a:lnSpc>
              <a:spcBef>
                <a:spcPts val="600"/>
              </a:spcBef>
              <a:buFontTx/>
              <a:defRPr sz="152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Evaluation Metrics: MAE, RMSE, and R².</a:t>
            </a:r>
            <a:br/>
          </a:p>
          <a:p>
            <a:pPr marL="91439" indent="-91439" defTabSz="341680">
              <a:lnSpc>
                <a:spcPct val="115833"/>
              </a:lnSpc>
              <a:spcBef>
                <a:spcPts val="600"/>
              </a:spcBef>
              <a:buFontTx/>
              <a:defRPr sz="152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Performance:</a:t>
            </a:r>
          </a:p>
          <a:p>
            <a:pPr lvl="1" marL="441959" indent="-152400" defTabSz="341680">
              <a:lnSpc>
                <a:spcPct val="115833"/>
              </a:lnSpc>
              <a:spcBef>
                <a:spcPts val="600"/>
              </a:spcBef>
              <a:buFontTx/>
              <a:buChar char="•"/>
              <a:defRPr sz="152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Random Forest .</a:t>
            </a:r>
            <a:br/>
          </a:p>
        </p:txBody>
      </p:sp>
      <p:pic>
        <p:nvPicPr>
          <p:cNvPr id="124" name="Screenshot 2026-02-12 at 20.39.14.png" descr="Screenshot 2026-02-12 at 20.39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9850" y="4511599"/>
            <a:ext cx="6464300" cy="749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/>
          <p:nvPr>
            <p:ph type="title"/>
          </p:nvPr>
        </p:nvSpPr>
        <p:spPr>
          <a:xfrm>
            <a:off x="457200" y="261938"/>
            <a:ext cx="6618387" cy="899617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Supervised Learning - Classification</a:t>
            </a:r>
          </a:p>
        </p:txBody>
      </p:sp>
      <p:sp>
        <p:nvSpPr>
          <p:cNvPr id="127" name="Content Placeholder 2"/>
          <p:cNvSpPr txBox="1"/>
          <p:nvPr>
            <p:ph type="body" sz="half" idx="1"/>
          </p:nvPr>
        </p:nvSpPr>
        <p:spPr>
          <a:xfrm>
            <a:off x="564753" y="1493229"/>
            <a:ext cx="8229601" cy="2803404"/>
          </a:xfrm>
          <a:prstGeom prst="rect">
            <a:avLst/>
          </a:prstGeom>
        </p:spPr>
        <p:txBody>
          <a:bodyPr/>
          <a:lstStyle/>
          <a:p>
            <a:pPr marL="83017" indent="-83017" defTabSz="310210">
              <a:lnSpc>
                <a:spcPct val="115833"/>
              </a:lnSpc>
              <a:spcBef>
                <a:spcPts val="500"/>
              </a:spcBef>
              <a:buFontTx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83017" indent="-83017" defTabSz="310210">
              <a:lnSpc>
                <a:spcPct val="115833"/>
              </a:lnSpc>
              <a:spcBef>
                <a:spcPts val="500"/>
              </a:spcBef>
              <a:buFontTx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Goal: Predict Profitability (ROAS &gt; 1).</a:t>
            </a:r>
            <a:br/>
          </a:p>
          <a:p>
            <a:pPr marL="83017" indent="-83017" defTabSz="310210">
              <a:lnSpc>
                <a:spcPct val="115833"/>
              </a:lnSpc>
              <a:spcBef>
                <a:spcPts val="500"/>
              </a:spcBef>
              <a:buFontTx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Model: Random Forest Classifier.</a:t>
            </a:r>
            <a:br/>
          </a:p>
          <a:p>
            <a:pPr marL="83017" indent="-83017" defTabSz="310210">
              <a:lnSpc>
                <a:spcPct val="115833"/>
              </a:lnSpc>
              <a:spcBef>
                <a:spcPts val="500"/>
              </a:spcBef>
              <a:buFontTx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Evaluation: F1-Score and ROC-AUC.</a:t>
            </a:r>
            <a:br/>
          </a:p>
          <a:p>
            <a:pPr marL="83017" indent="-83017" defTabSz="310210">
              <a:lnSpc>
                <a:spcPct val="115833"/>
              </a:lnSpc>
              <a:spcBef>
                <a:spcPts val="500"/>
              </a:spcBef>
              <a:buFontTx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Robustness Check:</a:t>
            </a:r>
          </a:p>
          <a:p>
            <a:pPr lvl="1" marL="401253" indent="-138363" defTabSz="310210">
              <a:lnSpc>
                <a:spcPct val="115833"/>
              </a:lnSpc>
              <a:spcBef>
                <a:spcPts val="500"/>
              </a:spcBef>
              <a:buFontTx/>
              <a:buChar char="•"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Tested the model on Noisy Data.</a:t>
            </a:r>
          </a:p>
          <a:p>
            <a:pPr lvl="1" marL="401253" indent="-138363" defTabSz="310210">
              <a:lnSpc>
                <a:spcPct val="115833"/>
              </a:lnSpc>
              <a:spcBef>
                <a:spcPts val="500"/>
              </a:spcBef>
              <a:buFontTx/>
              <a:buChar char="•"/>
              <a:defRPr sz="138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Finding: The model maintained a high AUC even with 3% noise, proving high generalised reliability.</a:t>
            </a:r>
          </a:p>
        </p:txBody>
      </p:sp>
      <p:pic>
        <p:nvPicPr>
          <p:cNvPr id="128" name="Screenshot 2026-02-12 at 20.40.29.png" descr="Screenshot 2026-02-12 at 20.40.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86904" y="4628306"/>
            <a:ext cx="4122492" cy="15121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xfrm>
            <a:off x="588689" y="211138"/>
            <a:ext cx="8229601" cy="803308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Unsupervised Learning </a:t>
            </a:r>
          </a:p>
        </p:txBody>
      </p:sp>
      <p:sp>
        <p:nvSpPr>
          <p:cNvPr id="131" name="Content Placeholder 2"/>
          <p:cNvSpPr txBox="1"/>
          <p:nvPr>
            <p:ph type="body" idx="1"/>
          </p:nvPr>
        </p:nvSpPr>
        <p:spPr>
          <a:xfrm>
            <a:off x="457200" y="1331631"/>
            <a:ext cx="8492580" cy="3701903"/>
          </a:xfrm>
          <a:prstGeom prst="rect">
            <a:avLst/>
          </a:prstGeom>
        </p:spPr>
        <p:txBody>
          <a:bodyPr/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Method: Dimensionality Reduction (PCA) followed by K-Means Clustering.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Optimisation: Used Silhouette Scores to find the optimal number of clusters (k).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Cluster Interpretation: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Cluster 0: High-efficiency, low-spend (The "Viral" campaigns).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Cluster 1: High-spend, established scale.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Cluster 2: Underperforming segments needing optimisation.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title"/>
          </p:nvPr>
        </p:nvSpPr>
        <p:spPr>
          <a:xfrm>
            <a:off x="588689" y="211138"/>
            <a:ext cx="8229601" cy="803308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Unsupervised Learning </a:t>
            </a:r>
          </a:p>
        </p:txBody>
      </p:sp>
      <p:pic>
        <p:nvPicPr>
          <p:cNvPr id="13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4645" y="1455617"/>
            <a:ext cx="5557689" cy="39467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xfrm>
            <a:off x="558800" y="287338"/>
            <a:ext cx="4928444" cy="1143001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Justification &amp; Creativity</a:t>
            </a:r>
          </a:p>
        </p:txBody>
      </p:sp>
      <p:sp>
        <p:nvSpPr>
          <p:cNvPr id="137" name="Content Placeholder 2"/>
          <p:cNvSpPr txBox="1"/>
          <p:nvPr>
            <p:ph type="body" idx="1"/>
          </p:nvPr>
        </p:nvSpPr>
        <p:spPr>
          <a:xfrm>
            <a:off x="457200" y="1612666"/>
            <a:ext cx="8229600" cy="4435192"/>
          </a:xfrm>
          <a:prstGeom prst="rect">
            <a:avLst/>
          </a:prstGeom>
        </p:spPr>
        <p:txBody>
          <a:bodyPr/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Why Random Forest? Handles non-linear advertising data and complex platform interactions better than linear models.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Why PCA? Reduced 14+ dimensions into 2 components for clearer visual segmentation.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Creativity Highlights: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Used Scikit-Learn Pipelines to prevent Data Leakage.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Integrated Statistical Hypothesis Testing with Machine Learning.</a:t>
            </a:r>
          </a:p>
          <a:p>
            <a:pPr lvl="1" marL="581526" indent="-200526" defTabSz="449580">
              <a:lnSpc>
                <a:spcPct val="115833"/>
              </a:lnSpc>
              <a:spcBef>
                <a:spcPts val="800"/>
              </a:spcBef>
              <a:buFontTx/>
              <a:buChar char="•"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Performed Robustness Testing against artificial noise.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xfrm>
            <a:off x="457200" y="1574800"/>
            <a:ext cx="8229600" cy="3162541"/>
          </a:xfrm>
          <a:prstGeom prst="rect">
            <a:avLst/>
          </a:prstGeom>
        </p:spPr>
        <p:txBody>
          <a:bodyPr/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Winner: TikTok Ads showed higher agility in specific niches (EdTech/Fintech).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Summary: Our model can predict campaign success with &gt;90% accuracy.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Future Work: Integrate real-time API data for live forecasting.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 References</a:t>
            </a:r>
          </a:p>
        </p:txBody>
      </p:sp>
      <p:sp>
        <p:nvSpPr>
          <p:cNvPr id="143" name="Content Placeholder 2"/>
          <p:cNvSpPr txBox="1"/>
          <p:nvPr>
            <p:ph type="body" sz="half" idx="1"/>
          </p:nvPr>
        </p:nvSpPr>
        <p:spPr>
          <a:xfrm>
            <a:off x="457200" y="1587500"/>
            <a:ext cx="8229600" cy="1654049"/>
          </a:xfrm>
          <a:prstGeom prst="rect">
            <a:avLst/>
          </a:prstGeom>
        </p:spPr>
        <p:txBody>
          <a:bodyPr/>
          <a:lstStyle/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hlinkClick r:id="rId2" invalidUrl="" action="" tgtFrame="" tooltip="" history="1" highlightClick="0" endSnd="0"/>
              </a:rPr>
              <a:t>https://www.kaggle.com/datasets/nudratabbas/global-ads-performance-google-meta-tiktok/data</a:t>
            </a:r>
            <a:br/>
          </a:p>
          <a:p>
            <a:pPr marL="120315" indent="-120315" defTabSz="449580">
              <a:lnSpc>
                <a:spcPct val="115833"/>
              </a:lnSpc>
              <a:spcBef>
                <a:spcPts val="800"/>
              </a:spcBef>
              <a:buFontTx/>
              <a:defRPr sz="2000">
                <a:solidFill>
                  <a:schemeClr val="accent6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https://scikit-learn.org/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xfrm>
            <a:off x="2532809" y="2857499"/>
            <a:ext cx="4078382" cy="1143001"/>
          </a:xfrm>
          <a:prstGeom prst="rect">
            <a:avLst/>
          </a:prstGeom>
        </p:spPr>
        <p:txBody>
          <a:bodyPr/>
          <a:lstStyle>
            <a:lvl1pPr>
              <a:defRPr sz="47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